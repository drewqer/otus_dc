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5"/>
      <p:bold r:id="rId16"/>
    </p:embeddedFont>
    <p:embeddedFont>
      <p:font typeface="Roboto Medium" panose="02000000000000000000" pitchFamily="2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55BF-4C2B-4E2F-8183-54433AA73701}">
  <a:tblStyle styleId="{20BD55BF-4C2B-4E2F-8183-54433AA737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04" autoAdjust="0"/>
  </p:normalViewPr>
  <p:slideViewPr>
    <p:cSldViewPr snapToGrid="0">
      <p:cViewPr varScale="1">
        <p:scale>
          <a:sx n="189" d="100"/>
          <a:sy n="189" d="100"/>
        </p:scale>
        <p:origin x="984" y="16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RU"/>
          </a:p>
        </p:txBody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Здравствуйте. Меня зовут [ФИО], мой проект называется «Отказоустойчивая фабрика EVPN-VXLAN для игровых сервисов».</a:t>
            </a:r>
          </a:p>
          <a:p>
            <a:r>
              <a:t>Я построил в EVE-NG два независимых сайта, RU и EU. Между ними нет выделенных каналов, только модель Интернета.</a:t>
            </a:r>
          </a:p>
          <a:p>
            <a:r>
              <a:t>За 10 минут расскажу, какую задачу решали, как устроена сеть, как мы её ломали и что из этого вышло. В конце отдельно скажу, чего эта модель не доказывает.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простая: игрок не должен замечать, что у нас что-то сломалось. Игровой сервис живёт на двух сайтах, в России и в Европе.</a:t>
            </a:r>
          </a:p>
          <a:p>
            <a:r>
              <a:t>Мы хотели получить четыре вещи. Первое: два независимых сайта, которые связаны только Интернетом, без выделенных каналов. Второе: вход игрока по anycast, а закрепление сессии через unicast-адрес. Третье: тестовая среда в отдельном VRF, куда можно попасть только через jump host. Четвёртое: проверить, что всё это переживает отказы. Всего у нас 24 проверки.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Вот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стенд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сайте</a:t>
            </a:r>
            <a:r>
              <a:rPr dirty="0"/>
              <a:t> </a:t>
            </a:r>
            <a:r>
              <a:rPr dirty="0" err="1"/>
              <a:t>классическая</a:t>
            </a:r>
            <a:r>
              <a:rPr dirty="0"/>
              <a:t> </a:t>
            </a:r>
            <a:r>
              <a:rPr dirty="0" err="1"/>
              <a:t>схема</a:t>
            </a:r>
            <a:r>
              <a:rPr dirty="0"/>
              <a:t> Spine-Leaf: </a:t>
            </a:r>
            <a:r>
              <a:rPr dirty="0" err="1"/>
              <a:t>два</a:t>
            </a:r>
            <a:r>
              <a:rPr dirty="0"/>
              <a:t> Spine, </a:t>
            </a:r>
            <a:r>
              <a:rPr dirty="0" err="1"/>
              <a:t>два</a:t>
            </a:r>
            <a:r>
              <a:rPr dirty="0"/>
              <a:t> Leaf и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, </a:t>
            </a:r>
            <a:r>
              <a:rPr dirty="0" err="1"/>
              <a:t>подключённый</a:t>
            </a:r>
            <a:r>
              <a:rPr dirty="0"/>
              <a:t> к </a:t>
            </a:r>
            <a:r>
              <a:rPr dirty="0" err="1"/>
              <a:t>обоим</a:t>
            </a:r>
            <a:r>
              <a:rPr dirty="0"/>
              <a:t> Leaf. </a:t>
            </a:r>
            <a:r>
              <a:rPr dirty="0" err="1"/>
              <a:t>Всего</a:t>
            </a:r>
            <a:r>
              <a:rPr dirty="0"/>
              <a:t> 14 </a:t>
            </a:r>
            <a:r>
              <a:rPr dirty="0" err="1"/>
              <a:t>коммутаторов</a:t>
            </a:r>
            <a:r>
              <a:rPr dirty="0"/>
              <a:t> </a:t>
            </a:r>
            <a:r>
              <a:rPr dirty="0" err="1"/>
              <a:t>vEOS</a:t>
            </a:r>
            <a:r>
              <a:rPr dirty="0"/>
              <a:t> и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в EVE-NG.</a:t>
            </a:r>
          </a:p>
          <a:p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сайтами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ничего</a:t>
            </a:r>
            <a:r>
              <a:rPr dirty="0"/>
              <a:t>, </a:t>
            </a:r>
            <a:r>
              <a:rPr dirty="0" err="1"/>
              <a:t>кроме</a:t>
            </a:r>
            <a:r>
              <a:rPr dirty="0"/>
              <a:t> </a:t>
            </a:r>
            <a:r>
              <a:rPr dirty="0" err="1"/>
              <a:t>Интернета</a:t>
            </a:r>
            <a:r>
              <a:rPr dirty="0"/>
              <a:t>. Я </a:t>
            </a:r>
            <a:r>
              <a:rPr dirty="0" err="1"/>
              <a:t>смоделировал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кольцом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четырёх</a:t>
            </a:r>
            <a:r>
              <a:rPr dirty="0"/>
              <a:t> </a:t>
            </a:r>
            <a:r>
              <a:rPr dirty="0" err="1"/>
              <a:t>провайдерских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: ISP1 и ISP2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сайте</a:t>
            </a:r>
            <a:r>
              <a:rPr dirty="0"/>
              <a:t>.</a:t>
            </a:r>
          </a:p>
          <a:p>
            <a:r>
              <a:rPr dirty="0" err="1"/>
              <a:t>Обратите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оранжевые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. ISP1 у </a:t>
            </a:r>
            <a:r>
              <a:rPr dirty="0" err="1"/>
              <a:t>нас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: </a:t>
            </a:r>
            <a:r>
              <a:rPr dirty="0" err="1"/>
              <a:t>на</a:t>
            </a:r>
            <a:r>
              <a:rPr dirty="0"/>
              <a:t> Leaf </a:t>
            </a:r>
            <a:r>
              <a:rPr dirty="0" err="1"/>
              <a:t>ему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 local-preference 200, ISP2 </a:t>
            </a:r>
            <a:r>
              <a:rPr dirty="0" err="1"/>
              <a:t>получает</a:t>
            </a:r>
            <a:r>
              <a:rPr dirty="0"/>
              <a:t> 100 и </a:t>
            </a:r>
            <a:r>
              <a:rPr dirty="0" err="1"/>
              <a:t>анонсы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идут</a:t>
            </a:r>
            <a:r>
              <a:rPr dirty="0"/>
              <a:t> с prepend. </a:t>
            </a:r>
            <a:r>
              <a:rPr dirty="0" err="1"/>
              <a:t>Поэтому</a:t>
            </a:r>
            <a:r>
              <a:rPr dirty="0"/>
              <a:t> в </a:t>
            </a:r>
            <a:r>
              <a:rPr dirty="0" err="1"/>
              <a:t>штатном</a:t>
            </a:r>
            <a:r>
              <a:rPr dirty="0"/>
              <a:t> </a:t>
            </a:r>
            <a:r>
              <a:rPr dirty="0" err="1"/>
              <a:t>режиме</a:t>
            </a:r>
            <a:r>
              <a:rPr dirty="0"/>
              <a:t> </a:t>
            </a:r>
            <a:r>
              <a:rPr dirty="0" err="1"/>
              <a:t>игровой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ходит</a:t>
            </a:r>
            <a:r>
              <a:rPr dirty="0"/>
              <a:t> в </a:t>
            </a:r>
            <a:r>
              <a:rPr dirty="0" err="1"/>
              <a:t>обе</a:t>
            </a:r>
            <a:r>
              <a:rPr dirty="0"/>
              <a:t> </a:t>
            </a:r>
            <a:r>
              <a:rPr dirty="0" err="1"/>
              <a:t>стороны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ISP1.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Теперь, как игрок попадает на сайт. Первое: он обращается на anycast-адрес 10.0.100.100, который анонсируют оба сайта. Второе: Интернет сам выбирает лучший BGP-путь, то есть тот, где короче AS-path. Третье: сессия закрепляется за конкретным сайтом через unicast VIP, на RU это 10.0.100.1, на EU 10.0.100.2.</a:t>
            </a:r>
          </a:p>
          <a:p>
            <a:r>
              <a:t>Руководитель справедливо заметил, что слово «ближайший» тут вводит в заблуждение. Поэтому я проверил причину выбора в проверке A4. ISP1-RU видит к своему сайту путь из двух AS, а к EU из трёх. Выбран короткий. География в модели не участвует.</a:t>
            </a:r>
          </a:p>
          <a:p>
            <a:r>
              <a:t>Если сервис падает, хост снимает VIP, маршрут исчезает у провайдеров, и новые игроки приходят на второй сайт.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Внутри сайта три слоя. Underlay: eBGP между Leaf и Spine, ECMP по двум путям, MTU 9000 и BFD на сессиях.</a:t>
            </a:r>
          </a:p>
          <a:p>
            <a:r>
              <a:t>Overlay: EVPN-VXLAN. Spine работают как route server, Leaf являются шлюзом хостов с anycast gateway и одновременно стыком с провайдерами. Есть два VRF: GAME для игры и TEST для тестовой среды.</a:t>
            </a:r>
          </a:p>
          <a:p>
            <a:r>
              <a:t>Игровой сервер подключён к обоим Leaf через Port-Channel с LACP и ESI all-active. С сервера на каждый Leaf идёт eBGP-сессия, по ней сервер анонсирует VIP.</a:t>
            </a:r>
          </a:p>
          <a:p>
            <a:r>
              <a:t>Мы проверили отказ линка, Spine, Leaf и работу ESI: связь сохраняется, ёмкость снижается.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Тестовая среда живёт в отдельном VRF TEST: свой VLAN 777, свои VNI. Игровой VRF GAME и тестовый не обмениваются маршрутами. В проверке T4 мы посмотрели таблицы маршрутизации: префиксов GAME в TEST нет, и наоборот. Проверка T2 показывает, что из Интернета напрямую до тестового хоста не добраться.</a:t>
            </a:r>
          </a:p>
          <a:p>
            <a:r>
              <a:t>Попасть можно только через jump host. Разработчик заходит по SSH через ISP2 на Leaf2, пакет уходит в VXLAN с L3VNI 10077 на Leaf1, где на Loopback10 и работает SSH.</a:t>
            </a:r>
          </a:p>
          <a:p>
            <a:r>
              <a:t>Это допущение лаборатории: в production jump host выносится за фабрику, иначе SSH грузит процессор коммутатора. Мы фиксируем это в разделе рисков.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Всего 24 проверки в пяти группах. Fabric: отказ линка и Spine, ESI, MTU. Тестовая среда: семь проверок на изоляцию и доступ через jump host. Multisite: связность хостов, выбор сайта по anycast и причина этого выбора. Интернет: отказ uplink, отказ провайдера, отказ звена кольца. Игровой сервис: снятие VIP, отказ Leaf, отказ линка хоста, отказ сайта целиком и широковещательный шторм.</a:t>
            </a:r>
          </a:p>
          <a:p>
            <a:r>
              <a:t>Для каждой проверки в README есть логи с show-командами, а для самых важных, пятой и шестой в игровом сервисе, мы сняли состояние до и после. Их я сейчас покажу.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Проверка</a:t>
            </a:r>
            <a:r>
              <a:rPr dirty="0"/>
              <a:t> B5: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отказ</a:t>
            </a:r>
            <a:r>
              <a:rPr dirty="0"/>
              <a:t> </a:t>
            </a:r>
            <a:r>
              <a:rPr dirty="0" err="1"/>
              <a:t>сайта</a:t>
            </a:r>
            <a:r>
              <a:rPr dirty="0"/>
              <a:t> RU. </a:t>
            </a:r>
            <a:r>
              <a:rPr dirty="0" err="1"/>
              <a:t>Мы</a:t>
            </a:r>
            <a:r>
              <a:rPr dirty="0"/>
              <a:t> </a:t>
            </a:r>
            <a:r>
              <a:rPr lang="ru-RU" dirty="0"/>
              <a:t>отключили игровые </a:t>
            </a:r>
            <a:r>
              <a:rPr lang="ru-RU" dirty="0" err="1"/>
              <a:t>uplink</a:t>
            </a:r>
            <a:r>
              <a:rPr lang="ru-RU" dirty="0"/>
              <a:t> сайта RU</a:t>
            </a:r>
            <a:r>
              <a:rPr dirty="0"/>
              <a:t>.</a:t>
            </a:r>
          </a:p>
          <a:p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в </a:t>
            </a:r>
            <a:r>
              <a:rPr dirty="0" err="1"/>
              <a:t>России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сайта</a:t>
            </a:r>
            <a:r>
              <a:rPr dirty="0"/>
              <a:t> RU, </a:t>
            </a:r>
            <a:r>
              <a:rPr dirty="0" err="1"/>
              <a:t>ttl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62,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Leaf1-RU.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приходит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EU, </a:t>
            </a:r>
            <a:r>
              <a:rPr dirty="0" err="1"/>
              <a:t>ttl</a:t>
            </a:r>
            <a:r>
              <a:rPr dirty="0"/>
              <a:t> </a:t>
            </a:r>
            <a:r>
              <a:rPr dirty="0" err="1"/>
              <a:t>равен</a:t>
            </a:r>
            <a:r>
              <a:rPr dirty="0"/>
              <a:t> 61,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идёт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ISP1-EU </a:t>
            </a:r>
            <a:r>
              <a:rPr dirty="0" err="1"/>
              <a:t>на</a:t>
            </a:r>
            <a:r>
              <a:rPr dirty="0"/>
              <a:t> Leaf2-EU. </a:t>
            </a:r>
            <a:r>
              <a:rPr dirty="0" err="1"/>
              <a:t>На</a:t>
            </a:r>
            <a:r>
              <a:rPr dirty="0"/>
              <a:t> ISP1-RU 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к anycast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вёл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наши</a:t>
            </a:r>
            <a:r>
              <a:rPr dirty="0"/>
              <a:t> Leaf,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отказа</a:t>
            </a:r>
            <a:r>
              <a:rPr dirty="0"/>
              <a:t> </a:t>
            </a:r>
            <a:r>
              <a:rPr dirty="0" err="1"/>
              <a:t>остался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EU. Unicast VIP </a:t>
            </a:r>
            <a:r>
              <a:rPr dirty="0" err="1"/>
              <a:t>сайта</a:t>
            </a:r>
            <a:r>
              <a:rPr dirty="0"/>
              <a:t> RU </a:t>
            </a:r>
            <a:r>
              <a:rPr dirty="0" err="1"/>
              <a:t>стал</a:t>
            </a:r>
            <a:r>
              <a:rPr dirty="0"/>
              <a:t> </a:t>
            </a:r>
            <a:r>
              <a:rPr dirty="0" err="1"/>
              <a:t>недоступен</a:t>
            </a:r>
            <a:r>
              <a:rPr dirty="0"/>
              <a:t>, VIP </a:t>
            </a:r>
            <a:r>
              <a:rPr dirty="0" err="1"/>
              <a:t>сайта</a:t>
            </a:r>
            <a:r>
              <a:rPr dirty="0"/>
              <a:t> EU </a:t>
            </a:r>
            <a:r>
              <a:rPr dirty="0" err="1"/>
              <a:t>остался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.</a:t>
            </a:r>
          </a:p>
          <a:p>
            <a:r>
              <a:rPr dirty="0" err="1"/>
              <a:t>Честно</a:t>
            </a:r>
            <a:r>
              <a:rPr dirty="0"/>
              <a:t>: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переключения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измеряли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доказываем</a:t>
            </a:r>
            <a:r>
              <a:rPr dirty="0"/>
              <a:t> </a:t>
            </a:r>
            <a:r>
              <a:rPr dirty="0" err="1"/>
              <a:t>факт</a:t>
            </a:r>
            <a:r>
              <a:rPr dirty="0"/>
              <a:t> </a:t>
            </a:r>
            <a:r>
              <a:rPr dirty="0" err="1"/>
              <a:t>переключения</a:t>
            </a:r>
            <a:r>
              <a:rPr dirty="0"/>
              <a:t>, </a:t>
            </a:r>
            <a:r>
              <a:rPr dirty="0" err="1"/>
              <a:t>путь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таблиц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секунды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Проверка</a:t>
            </a:r>
            <a:r>
              <a:rPr dirty="0"/>
              <a:t> B6: </a:t>
            </a:r>
            <a:r>
              <a:rPr dirty="0" err="1"/>
              <a:t>широковещательный</a:t>
            </a:r>
            <a:r>
              <a:rPr dirty="0"/>
              <a:t> </a:t>
            </a:r>
            <a:r>
              <a:rPr dirty="0" err="1"/>
              <a:t>шторм</a:t>
            </a:r>
            <a:r>
              <a:rPr dirty="0"/>
              <a:t>. С </a:t>
            </a:r>
            <a:r>
              <a:rPr dirty="0" err="1"/>
              <a:t>игрового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в </a:t>
            </a:r>
            <a:r>
              <a:rPr dirty="0" err="1"/>
              <a:t>России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отправили</a:t>
            </a:r>
            <a:r>
              <a:rPr dirty="0"/>
              <a:t> </a:t>
            </a:r>
            <a:r>
              <a:rPr lang="en-US" dirty="0"/>
              <a:t>500+495</a:t>
            </a:r>
            <a:r>
              <a:rPr dirty="0"/>
              <a:t> broadcast-</a:t>
            </a:r>
            <a:r>
              <a:rPr dirty="0" err="1"/>
              <a:t>кадров</a:t>
            </a:r>
            <a:r>
              <a:rPr dirty="0"/>
              <a:t>,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запуска</a:t>
            </a:r>
            <a:r>
              <a:rPr dirty="0"/>
              <a:t> ping -b. </a:t>
            </a:r>
            <a:r>
              <a:rPr dirty="0" err="1"/>
              <a:t>Счётчики</a:t>
            </a:r>
            <a:r>
              <a:rPr dirty="0"/>
              <a:t> </a:t>
            </a:r>
            <a:r>
              <a:rPr dirty="0" err="1"/>
              <a:t>показывают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ровно</a:t>
            </a:r>
            <a:r>
              <a:rPr dirty="0"/>
              <a:t> 995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пришли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Leaf2-RU: </a:t>
            </a:r>
            <a:r>
              <a:rPr dirty="0" err="1"/>
              <a:t>потерь</a:t>
            </a:r>
            <a:r>
              <a:rPr dirty="0"/>
              <a:t> и </a:t>
            </a:r>
            <a:r>
              <a:rPr dirty="0" err="1"/>
              <a:t>размножения</a:t>
            </a:r>
            <a:r>
              <a:rPr dirty="0"/>
              <a:t> </a:t>
            </a:r>
            <a:r>
              <a:rPr dirty="0" err="1"/>
              <a:t>кадров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  <a:p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смотрим</a:t>
            </a:r>
            <a:r>
              <a:rPr dirty="0"/>
              <a:t>,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утекло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куда-то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стыках</a:t>
            </a:r>
            <a:r>
              <a:rPr dirty="0"/>
              <a:t> с </a:t>
            </a:r>
            <a:r>
              <a:rPr dirty="0" err="1"/>
              <a:t>обоими</a:t>
            </a:r>
            <a:r>
              <a:rPr dirty="0"/>
              <a:t> </a:t>
            </a:r>
            <a:r>
              <a:rPr dirty="0" err="1"/>
              <a:t>провайдерами</a:t>
            </a:r>
            <a:r>
              <a:rPr dirty="0"/>
              <a:t> </a:t>
            </a:r>
            <a:r>
              <a:rPr dirty="0" err="1"/>
              <a:t>счётчики</a:t>
            </a:r>
            <a:r>
              <a:rPr dirty="0"/>
              <a:t> broadcast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выросли</a:t>
            </a:r>
            <a:r>
              <a:rPr dirty="0"/>
              <a:t>. В </a:t>
            </a:r>
            <a:r>
              <a:rPr dirty="0" err="1"/>
              <a:t>Европе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Leaf1-EU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ноль</a:t>
            </a:r>
            <a:r>
              <a:rPr dirty="0"/>
              <a:t>. Flood-</a:t>
            </a:r>
            <a:r>
              <a:rPr dirty="0" err="1"/>
              <a:t>список</a:t>
            </a:r>
            <a:r>
              <a:rPr dirty="0"/>
              <a:t> VTEP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соседний</a:t>
            </a:r>
            <a:r>
              <a:rPr dirty="0"/>
              <a:t> Leaf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сайта</a:t>
            </a:r>
            <a:r>
              <a:rPr dirty="0"/>
              <a:t>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BUM-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сайта</a:t>
            </a:r>
            <a:r>
              <a:rPr dirty="0"/>
              <a:t>.</a:t>
            </a:r>
          </a:p>
          <a:p>
            <a:r>
              <a:rPr dirty="0" err="1"/>
              <a:t>Теперь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дубли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 </a:t>
            </a:r>
            <a:r>
              <a:rPr dirty="0" err="1"/>
              <a:t>обратно</a:t>
            </a:r>
            <a:r>
              <a:rPr dirty="0"/>
              <a:t> </a:t>
            </a:r>
            <a:r>
              <a:rPr dirty="0" err="1"/>
              <a:t>пришло</a:t>
            </a:r>
            <a:r>
              <a:rPr dirty="0"/>
              <a:t> </a:t>
            </a:r>
            <a:r>
              <a:rPr dirty="0" err="1"/>
              <a:t>около</a:t>
            </a:r>
            <a:r>
              <a:rPr dirty="0"/>
              <a:t> 183 broadcast-</a:t>
            </a:r>
            <a:r>
              <a:rPr dirty="0" err="1"/>
              <a:t>пакетов</a:t>
            </a:r>
            <a:r>
              <a:rPr dirty="0"/>
              <a:t>. Это </a:t>
            </a:r>
            <a:r>
              <a:rPr dirty="0" err="1"/>
              <a:t>фон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отражённый</a:t>
            </a:r>
            <a:r>
              <a:rPr dirty="0"/>
              <a:t> </a:t>
            </a:r>
            <a:r>
              <a:rPr dirty="0" err="1"/>
              <a:t>шторм</a:t>
            </a:r>
            <a:r>
              <a:rPr dirty="0"/>
              <a:t>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было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порядка</a:t>
            </a:r>
            <a:r>
              <a:rPr dirty="0"/>
              <a:t> </a:t>
            </a:r>
            <a:r>
              <a:rPr dirty="0" err="1"/>
              <a:t>тысячи</a:t>
            </a:r>
            <a:r>
              <a:rPr dirty="0"/>
              <a:t>. </a:t>
            </a:r>
            <a:r>
              <a:rPr dirty="0" err="1"/>
              <a:t>Оговорка</a:t>
            </a:r>
            <a:r>
              <a:rPr dirty="0"/>
              <a:t>: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шторм</a:t>
            </a:r>
            <a:r>
              <a:rPr dirty="0"/>
              <a:t> </a:t>
            </a:r>
            <a:r>
              <a:rPr dirty="0" err="1"/>
              <a:t>хост</a:t>
            </a:r>
            <a:r>
              <a:rPr dirty="0"/>
              <a:t> </a:t>
            </a:r>
            <a:r>
              <a:rPr dirty="0" err="1"/>
              <a:t>отправил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член</a:t>
            </a:r>
            <a:r>
              <a:rPr dirty="0"/>
              <a:t> Port-Channel, </a:t>
            </a:r>
            <a:r>
              <a:rPr dirty="0" err="1"/>
              <a:t>то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Leaf2. Это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хешем</a:t>
            </a:r>
            <a:r>
              <a:rPr dirty="0"/>
              <a:t> </a:t>
            </a:r>
            <a:r>
              <a:rPr dirty="0" err="1"/>
              <a:t>хоста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Подведу итог. Мы доказали четыре вещи. Вход на сайт выбирает BGP-метрика. При отказе всего сайта игрок уходит на второй сайт. Широковещательный шторм остаётся внутри сайта. Тестовая среда изолирована от игровой.</a:t>
            </a:r>
          </a:p>
          <a:p>
            <a:r>
              <a:t>Мы не доказываем время переключения, географическую близость и работу в реальном Интернете. Это границы лабораторной модели, и они прямо описаны в README.</a:t>
            </a:r>
          </a:p>
          <a:p>
            <a:r>
              <a:t>Что дальше для production: собственные /24 и ASN вместо /32, L7 health-check игрового процесса, bastion-кластер вне фабрики и измерение времени и потерь при переключении.</a:t>
            </a:r>
          </a:p>
          <a:p>
            <a:r>
              <a:t>Спасибо за внимание. Готов ответить на вопросы.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{20BD55BF-4C2B-4E2F-8183-54433AA73701}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{20BD55BF-4C2B-4E2F-8183-54433AA73701}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57200" y="914400"/>
            <a:ext cx="72237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Отказоустойчивая фабрика EVPN-VXLAN для игровых сервисов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Проектная работа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57200" y="2880360"/>
            <a:ext cx="6858000" cy="4114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BFC1F0"/>
                </a:solidFill>
                <a:latin typeface="Roboto"/>
              </a:rPr>
              <a:t>Два сайта · Anycast · ESI all-active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57600" y="4223868"/>
            <a:ext cx="3291840" cy="29392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dirty="0" err="1">
                <a:solidFill>
                  <a:srgbClr val="FFFFFF"/>
                </a:solidFill>
                <a:latin typeface="Roboto"/>
              </a:rPr>
              <a:t>Автор</a:t>
            </a:r>
            <a:r>
              <a:rPr sz="1500" b="0" dirty="0">
                <a:solidFill>
                  <a:srgbClr val="FFFFFF"/>
                </a:solidFill>
                <a:latin typeface="Roboto"/>
              </a:rPr>
              <a:t>:</a:t>
            </a:r>
            <a:r>
              <a:rPr lang="ru-RU" sz="1500" b="0" dirty="0">
                <a:solidFill>
                  <a:srgbClr val="FFFFFF"/>
                </a:solidFill>
                <a:latin typeface="Roboto"/>
              </a:rPr>
              <a:t> Ведерников АС</a:t>
            </a:r>
            <a:endParaRPr sz="1500" b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6720840" y="3429000"/>
            <a:ext cx="685800" cy="685800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6720840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 dirty="0">
                <a:solidFill>
                  <a:srgbClr val="FFFFFF"/>
                </a:solidFill>
                <a:latin typeface="Roboto"/>
              </a:rPr>
              <a:t>RU</a:t>
            </a:r>
          </a:p>
        </p:txBody>
      </p:sp>
      <p:sp>
        <p:nvSpPr>
          <p:cNvPr id="155" name="Oval 154"/>
          <p:cNvSpPr/>
          <p:nvPr/>
        </p:nvSpPr>
        <p:spPr>
          <a:xfrm>
            <a:off x="8001000" y="3429000"/>
            <a:ext cx="685800" cy="685800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8001000" y="3429000"/>
            <a:ext cx="685800" cy="6858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Roboto"/>
              </a:rPr>
              <a:t>EU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7406640" y="3767328"/>
            <a:ext cx="594360" cy="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6606540" y="3531869"/>
            <a:ext cx="2194560" cy="2462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b="0" dirty="0">
                <a:solidFill>
                  <a:srgbClr val="BFC1F0"/>
                </a:solidFill>
                <a:latin typeface="Roboto"/>
              </a:rPr>
              <a:t>ISP</a:t>
            </a:r>
            <a:endParaRPr sz="1200" b="0" dirty="0">
              <a:solidFill>
                <a:srgbClr val="BFC1F0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r>
              <a:rPr lang="ru-RU" sz="2800" dirty="0">
                <a:solidFill>
                  <a:srgbClr val="3F299A"/>
                </a:solidFill>
              </a:rPr>
              <a:t>«Игрок не должен замечать отказ»</a:t>
            </a:r>
            <a:endParaRPr sz="2800" b="1" dirty="0">
              <a:solidFill>
                <a:srgbClr val="3F299A"/>
              </a:solidFill>
              <a:latin typeface="Robot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dirty="0" err="1">
                <a:solidFill>
                  <a:srgbClr val="595959"/>
                </a:solidFill>
                <a:latin typeface="Roboto"/>
              </a:rPr>
              <a:t>Что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</a:t>
            </a:r>
            <a:r>
              <a:rPr sz="1700" b="0" dirty="0" err="1">
                <a:solidFill>
                  <a:srgbClr val="595959"/>
                </a:solidFill>
                <a:latin typeface="Roboto"/>
              </a:rPr>
              <a:t>строили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и </a:t>
            </a:r>
            <a:r>
              <a:rPr sz="1700" b="0" dirty="0" err="1">
                <a:solidFill>
                  <a:srgbClr val="595959"/>
                </a:solidFill>
                <a:latin typeface="Roboto"/>
              </a:rPr>
              <a:t>зачем</a:t>
            </a:r>
            <a:endParaRPr sz="1700" b="0" dirty="0">
              <a:solidFill>
                <a:srgbClr val="595959"/>
              </a:solidFill>
              <a:latin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383280" cy="301752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0175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B40"/>
                </a:solidFill>
                <a:latin typeface="Roboto"/>
              </a:rP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017520" cy="124957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 err="1">
                <a:solidFill>
                  <a:srgbClr val="FFFFFF"/>
                </a:solidFill>
                <a:latin typeface="Roboto"/>
              </a:rPr>
              <a:t>Игра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продолжается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при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отказе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узла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, </a:t>
            </a:r>
            <a:r>
              <a:rPr lang="ru-RU" sz="2400" b="1" dirty="0">
                <a:solidFill>
                  <a:srgbClr val="FFFFFF"/>
                </a:solidFill>
                <a:latin typeface="Roboto"/>
              </a:rPr>
              <a:t>каналов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или</a:t>
            </a:r>
            <a:r>
              <a:rPr sz="2400" b="1" dirty="0">
                <a:solidFill>
                  <a:srgbClr val="FFFFFF"/>
                </a:solidFill>
                <a:latin typeface="Roboto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Roboto"/>
              </a:rPr>
              <a:t>сайта</a:t>
            </a:r>
            <a:endParaRPr sz="2400" b="1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4572000" cy="676656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24528" y="15727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F299A"/>
                </a:solidFill>
                <a:latin typeface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63040"/>
            <a:ext cx="384048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 err="1">
                <a:solidFill>
                  <a:srgbClr val="333333"/>
                </a:solidFill>
                <a:latin typeface="Roboto"/>
              </a:rPr>
              <a:t>Два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сайта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,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связь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только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через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Интернет</a:t>
            </a:r>
            <a:endParaRPr sz="1600" b="0" dirty="0">
              <a:solidFill>
                <a:srgbClr val="333333"/>
              </a:solidFill>
              <a:latin typeface="Robot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0" y="2249424"/>
            <a:ext cx="4572000" cy="676656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24528" y="23591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F299A"/>
                </a:solidFill>
                <a:latin typeface="Robo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49424"/>
            <a:ext cx="384048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 err="1">
                <a:solidFill>
                  <a:srgbClr val="333333"/>
                </a:solidFill>
                <a:latin typeface="Roboto"/>
              </a:rPr>
              <a:t>Вход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по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anycast,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сессия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по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unicast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035808"/>
            <a:ext cx="4572000" cy="676656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24528" y="3145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F299A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35808"/>
            <a:ext cx="384048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 err="1">
                <a:solidFill>
                  <a:srgbClr val="333333"/>
                </a:solidFill>
                <a:latin typeface="Roboto"/>
              </a:rPr>
              <a:t>Тестовая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среда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в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отдельном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VRF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822191"/>
            <a:ext cx="4572000" cy="676656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24528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3F299A"/>
                </a:solidFill>
                <a:latin typeface="Robot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22191"/>
            <a:ext cx="3840480" cy="67665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dirty="0">
                <a:solidFill>
                  <a:srgbClr val="333333"/>
                </a:solidFill>
                <a:latin typeface="Roboto"/>
              </a:rPr>
              <a:t>24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проверки</a:t>
            </a:r>
            <a:r>
              <a:rPr sz="16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Roboto"/>
              </a:rPr>
              <a:t>отказов</a:t>
            </a:r>
            <a:endParaRPr sz="1600" b="0" dirty="0">
              <a:solidFill>
                <a:srgbClr val="333333"/>
              </a:solidFill>
              <a:latin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Два сайта, связь только через Интернет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Spine-Leaf на сайте, кольцо из четырёх ISP между ними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011680" cy="288036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F2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FFFFFF"/>
                </a:solidFill>
                <a:latin typeface="Roboto"/>
              </a:rPr>
              <a:t>Site 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Spine1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92024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Spine2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Leaf1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69748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Leaf2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267712"/>
            <a:ext cx="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2267712"/>
            <a:ext cx="91440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14400" y="2267712"/>
            <a:ext cx="91440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2267712"/>
            <a:ext cx="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352044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3F299A"/>
                </a:solidFill>
                <a:latin typeface="Roboto"/>
              </a:rPr>
              <a:t>Host: игровой сервер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044952"/>
            <a:ext cx="0" cy="47548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3044952"/>
            <a:ext cx="0" cy="47548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66560" y="1417320"/>
            <a:ext cx="2011680" cy="288036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3F2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66560" y="141732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FFFFFF"/>
                </a:solidFill>
                <a:latin typeface="Roboto"/>
              </a:rPr>
              <a:t>Site EU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92024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Spine1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92024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Spine2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269748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Leaf1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2697480"/>
            <a:ext cx="822960" cy="347472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Roboto"/>
              </a:rPr>
              <a:t>Leaf2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0" y="2267712"/>
            <a:ext cx="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15200" y="2267712"/>
            <a:ext cx="91440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315200" y="2267712"/>
            <a:ext cx="91440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0" y="2267712"/>
            <a:ext cx="0" cy="42976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03720" y="352044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3F299A"/>
                </a:solidFill>
                <a:latin typeface="Roboto"/>
              </a:rPr>
              <a:t>Host: игровой сервер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0" y="3044952"/>
            <a:ext cx="0" cy="47548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0" y="3044952"/>
            <a:ext cx="0" cy="475488"/>
          </a:xfrm>
          <a:prstGeom prst="line">
            <a:avLst/>
          </a:prstGeom>
          <a:ln w="15875">
            <a:solidFill>
              <a:srgbClr val="BFC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0" y="1783080"/>
            <a:ext cx="914400" cy="411480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ISP1-RU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1783080"/>
            <a:ext cx="914400" cy="411480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ISP1-EU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063240"/>
            <a:ext cx="914400" cy="411480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ISP2-RU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063240"/>
            <a:ext cx="914400" cy="411480"/>
          </a:xfrm>
          <a:prstGeom prst="roundRect">
            <a:avLst>
              <a:gd name="adj" fmla="val 2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ISP2-EU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77440" y="1984248"/>
            <a:ext cx="365760" cy="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77440" y="3264408"/>
            <a:ext cx="36576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00800" y="1984248"/>
            <a:ext cx="365760" cy="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0" y="3264408"/>
            <a:ext cx="36576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1984248"/>
            <a:ext cx="1828800" cy="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57600" y="3264408"/>
            <a:ext cx="1828800" cy="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200400" y="2194560"/>
            <a:ext cx="0" cy="86868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43600" y="2194560"/>
            <a:ext cx="0" cy="868680"/>
          </a:xfrm>
          <a:prstGeom prst="line">
            <a:avLst/>
          </a:prstGeom>
          <a:ln w="3810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7600" y="2308861"/>
            <a:ext cx="182880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dirty="0" err="1">
                <a:solidFill>
                  <a:srgbClr val="3F299A"/>
                </a:solidFill>
                <a:latin typeface="Roboto"/>
              </a:rPr>
              <a:t>Кольцо</a:t>
            </a:r>
            <a:r>
              <a:rPr sz="1200" b="1" dirty="0">
                <a:solidFill>
                  <a:srgbClr val="3F299A"/>
                </a:solidFill>
                <a:latin typeface="Roboto"/>
              </a:rPr>
              <a:t> </a:t>
            </a:r>
            <a:r>
              <a:rPr sz="1200" b="1" dirty="0" err="1">
                <a:solidFill>
                  <a:srgbClr val="3F299A"/>
                </a:solidFill>
                <a:latin typeface="Roboto"/>
              </a:rPr>
              <a:t>Интернета</a:t>
            </a:r>
            <a:endParaRPr sz="1200" b="1" dirty="0">
              <a:solidFill>
                <a:srgbClr val="3F299A"/>
              </a:solidFill>
              <a:latin typeface="Roboto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743200" y="3931920"/>
            <a:ext cx="27432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63240" y="3817621"/>
            <a:ext cx="1737360" cy="4165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595959"/>
                </a:solidFill>
                <a:latin typeface="Roboto"/>
              </a:rPr>
              <a:t>ISP1: </a:t>
            </a:r>
            <a:r>
              <a:rPr sz="1100" b="0" dirty="0" err="1">
                <a:solidFill>
                  <a:srgbClr val="595959"/>
                </a:solidFill>
                <a:latin typeface="Roboto"/>
              </a:rPr>
              <a:t>основной</a:t>
            </a:r>
            <a:r>
              <a:rPr lang="ru-RU" sz="1100" b="0" dirty="0">
                <a:solidFill>
                  <a:srgbClr val="595959"/>
                </a:solidFill>
                <a:latin typeface="Roboto"/>
              </a:rPr>
              <a:t> выход </a:t>
            </a:r>
            <a:r>
              <a:rPr lang="en-US" sz="1100" b="0" dirty="0">
                <a:solidFill>
                  <a:srgbClr val="595959"/>
                </a:solidFill>
                <a:latin typeface="Roboto"/>
              </a:rPr>
              <a:t>Leaf</a:t>
            </a:r>
            <a:endParaRPr sz="1100" b="0" dirty="0">
              <a:solidFill>
                <a:srgbClr val="595959"/>
              </a:solidFill>
              <a:latin typeface="Roboto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663440" y="3931920"/>
            <a:ext cx="274320" cy="54864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83480" y="3822191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dirty="0">
                <a:solidFill>
                  <a:srgbClr val="595959"/>
                </a:solidFill>
                <a:latin typeface="Roboto"/>
              </a:rPr>
              <a:t>ISP2: </a:t>
            </a:r>
            <a:r>
              <a:rPr sz="1100" b="0" dirty="0" err="1">
                <a:solidFill>
                  <a:srgbClr val="595959"/>
                </a:solidFill>
                <a:latin typeface="Roboto"/>
              </a:rPr>
              <a:t>резерв</a:t>
            </a:r>
            <a:endParaRPr sz="1100" b="0" dirty="0">
              <a:solidFill>
                <a:srgbClr val="595959"/>
              </a:solidFill>
              <a:latin typeface="Robot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95959"/>
                </a:solidFill>
                <a:latin typeface="Roboto"/>
              </a:rPr>
              <a:t>14 коммутаторов vEOS и 2 клиента в EVE-NG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Anycast — вход, unicast — сессия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Сайт выбирает BGP, а не география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F299A"/>
                </a:solidFill>
                <a:latin typeface="Robo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44752"/>
            <a:ext cx="17373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Anycast 10.0.100.100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84831"/>
            <a:ext cx="2148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FC1F0"/>
                </a:solidFill>
                <a:latin typeface="Roboto"/>
              </a:rPr>
              <a:t>Один адрес на оба сайта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121408"/>
            <a:ext cx="457200" cy="0"/>
          </a:xfrm>
          <a:prstGeom prst="line">
            <a:avLst/>
          </a:prstGeom>
          <a:ln w="38100">
            <a:solidFill>
              <a:srgbClr val="FFAB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141732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0440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F299A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444752"/>
            <a:ext cx="17373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Лучший BGP-путь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84831"/>
            <a:ext cx="21488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FC1F0"/>
                </a:solidFill>
                <a:latin typeface="Roboto"/>
              </a:rPr>
              <a:t>Короче AS-path — тот сайт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06440" y="2121408"/>
            <a:ext cx="457200" cy="0"/>
          </a:xfrm>
          <a:prstGeom prst="line">
            <a:avLst/>
          </a:prstGeom>
          <a:ln w="38100">
            <a:solidFill>
              <a:srgbClr val="FFAB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1417320"/>
            <a:ext cx="2377440" cy="141732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15361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3F299A"/>
                </a:solidFill>
                <a:latin typeface="Robo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444752"/>
            <a:ext cx="173736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Unicast VIP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48218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BFC1F0"/>
                </a:solidFill>
                <a:latin typeface="Roboto"/>
              </a:rPr>
              <a:t>RU 10.0.100.1</a:t>
            </a:r>
            <a:endParaRPr lang="en-US" sz="1300" dirty="0">
              <a:solidFill>
                <a:srgbClr val="BFC1F0"/>
              </a:solidFill>
              <a:latin typeface="Roboto"/>
            </a:endParaRPr>
          </a:p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BFC1F0"/>
                </a:solidFill>
                <a:latin typeface="Roboto"/>
              </a:rPr>
              <a:t>EU 10.0.100.2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0896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154680"/>
            <a:ext cx="484632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F299A"/>
                </a:solidFill>
                <a:latin typeface="Roboto"/>
              </a:rPr>
              <a:t>Проверка A4: путь ISP1-RU к 10.0.100.100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1828800" cy="329184"/>
          </a:xfrm>
          <a:prstGeom prst="roundRect">
            <a:avLst>
              <a:gd name="adj" fmla="val 15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к RU: 2 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05072"/>
            <a:ext cx="2743200" cy="329184"/>
          </a:xfrm>
          <a:prstGeom prst="roundRect">
            <a:avLst>
              <a:gd name="adj" fmla="val 15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3F299A"/>
                </a:solidFill>
                <a:latin typeface="Roboto"/>
              </a:rPr>
              <a:t>к EU: 3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2044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F299A"/>
                </a:solidFill>
                <a:latin typeface="Roboto"/>
              </a:rPr>
              <a:t>Выбран короткий путь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108960"/>
            <a:ext cx="2834640" cy="146304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108960"/>
            <a:ext cx="91440" cy="14630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3200400"/>
            <a:ext cx="2514600" cy="12801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AB40"/>
                </a:solidFill>
                <a:latin typeface="Roboto"/>
              </a:rPr>
              <a:t>Отказ сервиса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  <a:latin typeface="Roboto"/>
              </a:rPr>
              <a:t>VIP снят → маршрут исчез → игрок на втором сайте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Внутри сайта: Spine-Leaf и EVPN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Отказ Spine, Leaf или линка не рвёт связь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Roboto"/>
              </a:rPr>
              <a:t>Underlay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19456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33333"/>
                </a:solidFill>
                <a:latin typeface="Roboto"/>
              </a:rPr>
              <a:t>eBGP Leaf–Spine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ECMP по двум путям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MTU 9000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BFD на сессиях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Roboto"/>
              </a:rPr>
              <a:t>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9456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33333"/>
                </a:solidFill>
                <a:latin typeface="Roboto"/>
              </a:rPr>
              <a:t>EVPN-VXLAN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Anycast Gateway на Leaf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VRF GAME и TEST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Spine — route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377440" cy="251460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Roboto"/>
              </a:rPr>
              <a:t>Хосты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19456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33333"/>
                </a:solidFill>
                <a:latin typeface="Roboto"/>
              </a:rPr>
              <a:t>Port-Channel с LACP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ESI all-active на 2 Leaf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eBGP хост–Leaf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VIP анонсирует хост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91440" cy="50292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7955279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3F299A"/>
                </a:solidFill>
                <a:latin typeface="Roboto"/>
              </a:rPr>
              <a:t>Проверили: отказ линка, Spine, Leaf и ESI (C1–C4, B3, B4)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Тест изолирован от игры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dirty="0" err="1">
                <a:solidFill>
                  <a:srgbClr val="595959"/>
                </a:solidFill>
                <a:latin typeface="Roboto"/>
              </a:rPr>
              <a:t>Отдельный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VRF, </a:t>
            </a:r>
            <a:r>
              <a:rPr sz="1700" b="0" dirty="0" err="1">
                <a:solidFill>
                  <a:srgbClr val="595959"/>
                </a:solidFill>
                <a:latin typeface="Roboto"/>
              </a:rPr>
              <a:t>доступ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</a:t>
            </a:r>
            <a:r>
              <a:rPr sz="1700" b="0" dirty="0" err="1">
                <a:solidFill>
                  <a:srgbClr val="595959"/>
                </a:solidFill>
                <a:latin typeface="Roboto"/>
              </a:rPr>
              <a:t>только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</a:t>
            </a:r>
            <a:r>
              <a:rPr sz="1700" b="0" dirty="0" err="1">
                <a:solidFill>
                  <a:srgbClr val="595959"/>
                </a:solidFill>
                <a:latin typeface="Roboto"/>
              </a:rPr>
              <a:t>через</a:t>
            </a:r>
            <a:r>
              <a:rPr sz="1700" b="0" dirty="0">
                <a:solidFill>
                  <a:srgbClr val="595959"/>
                </a:solidFill>
                <a:latin typeface="Roboto"/>
              </a:rPr>
              <a:t> jump host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1371600" cy="8778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Roboto"/>
              </a:rPr>
              <a:t>VRF GAME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600200"/>
            <a:ext cx="2606040" cy="292608"/>
          </a:xfrm>
          <a:prstGeom prst="roundRect">
            <a:avLst>
              <a:gd name="adj" fmla="val 3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VLAN 666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965960"/>
            <a:ext cx="2606040" cy="292608"/>
          </a:xfrm>
          <a:prstGeom prst="roundRect">
            <a:avLst>
              <a:gd name="adj" fmla="val 30000"/>
            </a:avLst>
          </a:prstGeom>
          <a:solidFill>
            <a:srgbClr val="7629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VNI 10666 / 10066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715768"/>
            <a:ext cx="1371600" cy="8778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F299A"/>
                </a:solidFill>
                <a:latin typeface="Roboto"/>
              </a:rPr>
              <a:t>VRF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834640"/>
            <a:ext cx="2606040" cy="292608"/>
          </a:xfrm>
          <a:prstGeom prst="roundRect">
            <a:avLst>
              <a:gd name="adj" fmla="val 3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VLAN 777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200400"/>
            <a:ext cx="2606040" cy="292608"/>
          </a:xfrm>
          <a:prstGeom prst="roundRect">
            <a:avLst>
              <a:gd name="adj" fmla="val 3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Roboto"/>
              </a:rPr>
              <a:t>VNI 10777 / 10077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423160"/>
            <a:ext cx="2560320" cy="2286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3F299A"/>
                </a:solidFill>
                <a:latin typeface="Roboto"/>
              </a:rPr>
              <a:t>маршруты не пересекаются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429768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dirty="0">
                <a:solidFill>
                  <a:srgbClr val="333333"/>
                </a:solidFill>
                <a:latin typeface="Roboto"/>
              </a:rPr>
              <a:t>T4: в RIB TEST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нет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префиксов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GAME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300" b="0" dirty="0">
                <a:solidFill>
                  <a:srgbClr val="333333"/>
                </a:solidFill>
                <a:latin typeface="Roboto"/>
              </a:rPr>
              <a:t>T2: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из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Интернета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к TEST-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хосту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доступа</a:t>
            </a:r>
            <a:r>
              <a:rPr sz="13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Roboto"/>
              </a:rPr>
              <a:t>нет</a:t>
            </a:r>
            <a:endParaRPr sz="1300" b="0" dirty="0">
              <a:solidFill>
                <a:srgbClr val="333333"/>
              </a:solidFill>
              <a:latin typeface="Robot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394960" y="1463040"/>
            <a:ext cx="3291840" cy="502920"/>
          </a:xfrm>
          <a:prstGeom prst="roundRect">
            <a:avLst>
              <a:gd name="adj" fmla="val 2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Разработчик, SSH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40880" y="1965960"/>
            <a:ext cx="0" cy="246888"/>
          </a:xfrm>
          <a:prstGeom prst="line">
            <a:avLst/>
          </a:prstGeom>
          <a:ln w="31750">
            <a:solidFill>
              <a:srgbClr val="FFAB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94960" y="2212848"/>
            <a:ext cx="3291840" cy="502920"/>
          </a:xfrm>
          <a:prstGeom prst="roundRect">
            <a:avLst>
              <a:gd name="adj" fmla="val 2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ISP2 → Leaf2, Eth5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715768"/>
            <a:ext cx="0" cy="246888"/>
          </a:xfrm>
          <a:prstGeom prst="line">
            <a:avLst/>
          </a:prstGeom>
          <a:ln w="31750">
            <a:solidFill>
              <a:srgbClr val="FFAB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4960" y="2962656"/>
            <a:ext cx="3291840" cy="502920"/>
          </a:xfrm>
          <a:prstGeom prst="roundRect">
            <a:avLst>
              <a:gd name="adj" fmla="val 20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Roboto"/>
              </a:rPr>
              <a:t>VXLAN, L3VNI 10077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3465576"/>
            <a:ext cx="0" cy="246888"/>
          </a:xfrm>
          <a:prstGeom prst="line">
            <a:avLst/>
          </a:prstGeom>
          <a:ln w="31750">
            <a:solidFill>
              <a:srgbClr val="FFAB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94960" y="3712464"/>
            <a:ext cx="3291840" cy="502920"/>
          </a:xfrm>
          <a:prstGeom prst="roundRect">
            <a:avLst>
              <a:gd name="adj" fmla="val 20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3F299A"/>
                </a:solidFill>
                <a:latin typeface="Roboto"/>
              </a:rPr>
              <a:t>Leaf1 Lo10: jump 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4480560"/>
            <a:ext cx="3291840" cy="3200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95959"/>
                </a:solidFill>
                <a:latin typeface="Roboto"/>
              </a:rPr>
              <a:t>Допущение лаборатории: jump host на Leaf1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24 проверки: от линка до сайта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Результаты подтверждены логами show-команд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Группа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Проверок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Что ломали и смотрели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Fabric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629B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Линк, Spine, ESI, MTU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Тестовая среда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629BA"/>
                          </a:solidFill>
                          <a:latin typeface="Roboto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Изоляция, jump host, отказ Leaf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Multisite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629B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Anycast, VIP, причина выбора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Интернет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629B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Uplink, ISP1, звено кольца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Игровой сервис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7629BA"/>
                          </a:solidFill>
                          <a:latin typeface="Roboto"/>
                        </a:rPr>
                        <a:t>6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VIP, Leaf,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хост</a:t>
                      </a:r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сайт</a:t>
                      </a:r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,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шторм</a:t>
                      </a:r>
                      <a:endParaRPr sz="1500" b="0" dirty="0">
                        <a:solidFill>
                          <a:srgbClr val="333333"/>
                        </a:solidFill>
                        <a:latin typeface="Roboto"/>
                      </a:endParaRP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Отказ сайта RU: игроки уходят на EU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B5: отключили все uplink сайта RU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До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Roboto"/>
                        </a:rPr>
                        <a:t>После</a:t>
                      </a:r>
                    </a:p>
                  </a:txBody>
                  <a:tcPr anchor="ctr">
                    <a:solidFill>
                      <a:srgbClr val="3F29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F299A"/>
                          </a:solidFill>
                          <a:latin typeface="Roboto"/>
                        </a:rPr>
                        <a:t>Ответ на anycast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RU,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ttl</a:t>
                      </a:r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=62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EU, ttl=61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F299A"/>
                          </a:solidFill>
                          <a:latin typeface="Roboto"/>
                        </a:rPr>
                        <a:t>Путь Client-RU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через Leaf1-RU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ISP1-EU → Leaf2-EU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F299A"/>
                          </a:solidFill>
                          <a:latin typeface="Roboto"/>
                        </a:rPr>
                        <a:t>Лучший путь ISP1-RU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65100 65301 (RU)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65521 65200 65302 (EU)</a:t>
                      </a:r>
                    </a:p>
                  </a:txBody>
                  <a:tcPr anchor="ctr">
                    <a:solidFill>
                      <a:srgbClr val="F1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F299A"/>
                          </a:solidFill>
                          <a:latin typeface="Roboto"/>
                        </a:rPr>
                        <a:t>VIP RU / VIP 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333333"/>
                          </a:solidFill>
                          <a:latin typeface="Roboto"/>
                        </a:rPr>
                        <a:t>оба доступны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RU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нет</a:t>
                      </a:r>
                      <a:r>
                        <a:rPr sz="1500" b="0" dirty="0">
                          <a:solidFill>
                            <a:srgbClr val="333333"/>
                          </a:solidFill>
                          <a:latin typeface="Roboto"/>
                        </a:rPr>
                        <a:t>, EU </a:t>
                      </a:r>
                      <a:r>
                        <a:rPr sz="1500" b="0" dirty="0" err="1">
                          <a:solidFill>
                            <a:srgbClr val="333333"/>
                          </a:solidFill>
                          <a:latin typeface="Roboto"/>
                        </a:rPr>
                        <a:t>да</a:t>
                      </a:r>
                      <a:endParaRPr sz="1500" b="0" dirty="0">
                        <a:solidFill>
                          <a:srgbClr val="333333"/>
                        </a:solidFill>
                        <a:latin typeface="Roboto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069080"/>
            <a:ext cx="91440" cy="54864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7955279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Roboto"/>
              </a:rPr>
              <a:t>Фиксируем факт и путь. Время переключения не измеряли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BUM-шторм не вышел за сайт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B6: 995 broadcast-кадров с Host-RU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8288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Roboto"/>
              </a:rPr>
              <a:t>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737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Roboto"/>
              </a:rPr>
              <a:t>отправил Host-RU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63040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600200"/>
            <a:ext cx="18288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FFFF"/>
                </a:solidFill>
                <a:latin typeface="Roboto"/>
              </a:rPr>
              <a:t>995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06040"/>
            <a:ext cx="1737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Roboto"/>
              </a:rPr>
              <a:t>принял Leaf2-RU, без потерь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59" y="1600200"/>
            <a:ext cx="18288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AB40"/>
                </a:solidFill>
                <a:latin typeface="Roboto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06040"/>
            <a:ext cx="1737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Roboto"/>
              </a:rPr>
              <a:t>рост Bcast на стыках с ISP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1463040"/>
            <a:ext cx="1920240" cy="20574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79" y="1600200"/>
            <a:ext cx="18288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4800" b="1">
                <a:solidFill>
                  <a:srgbClr val="FFAB40"/>
                </a:solidFill>
                <a:latin typeface="Roboto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9" y="2606040"/>
            <a:ext cx="173736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Roboto"/>
              </a:rPr>
              <a:t>рост Bcast в EU (Leaf1-EU)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91440" cy="868680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767328"/>
            <a:ext cx="786384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F299A"/>
                </a:solidFill>
                <a:latin typeface="Roboto"/>
              </a:rPr>
              <a:t>Обратно на хост пришёл фон (+183), а не шторм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Flood-список VTEP: только соседний Leaf сайта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48640"/>
          </a:xfrm>
        </p:spPr>
        <p:txBody>
          <a:bodyPr wrap="square" anchor="ctr"/>
          <a:lstStyle/>
          <a:p>
            <a:pPr algn="l"/>
            <a:r>
              <a:rPr sz="2800" b="1">
                <a:solidFill>
                  <a:srgbClr val="3F299A"/>
                </a:solidFill>
                <a:latin typeface="Roboto"/>
              </a:rPr>
              <a:t>Выводы и границы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822960" cy="54864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95959"/>
                </a:solidFill>
                <a:latin typeface="Roboto"/>
              </a:rPr>
              <a:t>Что доказали, что нет и что дальше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377440" cy="2542032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Roboto"/>
              </a:rPr>
              <a:t>Доказано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Вход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выбирает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BGP-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метрика</a:t>
            </a:r>
            <a:endParaRPr sz="1400" b="0" dirty="0">
              <a:solidFill>
                <a:srgbClr val="333333"/>
              </a:solidFill>
              <a:latin typeface="Roboto"/>
            </a:endParaRP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Отказ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сайта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: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игрок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на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EU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 dirty="0">
                <a:solidFill>
                  <a:srgbClr val="333333"/>
                </a:solidFill>
                <a:latin typeface="Roboto"/>
              </a:rPr>
              <a:t>BUM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остаётся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внутри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сайта</a:t>
            </a:r>
            <a:endParaRPr sz="1400" b="0" dirty="0">
              <a:solidFill>
                <a:srgbClr val="333333"/>
              </a:solidFill>
              <a:latin typeface="Roboto"/>
            </a:endParaRP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Тест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изолирован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от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игры</a:t>
            </a:r>
            <a:endParaRPr sz="1400" b="0" dirty="0">
              <a:solidFill>
                <a:srgbClr val="333333"/>
              </a:solidFill>
              <a:latin typeface="Robot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83280" y="1417319"/>
            <a:ext cx="2377440" cy="2542031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BFC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3F299A"/>
                </a:solidFill>
                <a:latin typeface="Roboto"/>
              </a:rPr>
              <a:t>Не доказано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Время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переключения</a:t>
            </a:r>
            <a:endParaRPr sz="1400" b="0" dirty="0">
              <a:solidFill>
                <a:srgbClr val="333333"/>
              </a:solidFill>
              <a:latin typeface="Roboto"/>
            </a:endParaRP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Географическая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близость</a:t>
            </a:r>
            <a:endParaRPr sz="1400" b="0" dirty="0">
              <a:solidFill>
                <a:srgbClr val="333333"/>
              </a:solidFill>
              <a:latin typeface="Roboto"/>
            </a:endParaRP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 dirty="0" err="1">
                <a:solidFill>
                  <a:srgbClr val="333333"/>
                </a:solidFill>
                <a:latin typeface="Roboto"/>
              </a:rPr>
              <a:t>Работа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в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реальном</a:t>
            </a:r>
            <a:r>
              <a:rPr sz="1400" b="0" dirty="0">
                <a:solidFill>
                  <a:srgbClr val="333333"/>
                </a:solidFill>
                <a:latin typeface="Roboto"/>
              </a:rPr>
              <a:t> </a:t>
            </a:r>
            <a:r>
              <a:rPr sz="1400" b="0" dirty="0" err="1">
                <a:solidFill>
                  <a:srgbClr val="333333"/>
                </a:solidFill>
                <a:latin typeface="Roboto"/>
              </a:rPr>
              <a:t>Интернете</a:t>
            </a:r>
            <a:endParaRPr sz="1400" b="0" dirty="0">
              <a:solidFill>
                <a:srgbClr val="333333"/>
              </a:solidFill>
              <a:latin typeface="Robot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377440" cy="2542030"/>
          </a:xfrm>
          <a:prstGeom prst="roundRect">
            <a:avLst>
              <a:gd name="adj" fmla="val 8000"/>
            </a:avLst>
          </a:prstGeom>
          <a:solidFill>
            <a:srgbClr val="F1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377440" cy="457200"/>
          </a:xfrm>
          <a:prstGeom prst="roundRect">
            <a:avLst>
              <a:gd name="adj" fmla="val 1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Roboto"/>
              </a:rPr>
              <a:t>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33333"/>
                </a:solidFill>
                <a:latin typeface="Roboto"/>
              </a:rPr>
              <a:t>Свои /24 и ASN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L7 health-check хоста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Bastion вне фабрики</a:t>
            </a:r>
          </a:p>
          <a:p>
            <a:pPr algn="l">
              <a:lnSpc>
                <a:spcPct val="110000"/>
              </a:lnSpc>
              <a:spcBef>
                <a:spcPts val="700"/>
              </a:spcBef>
            </a:pPr>
            <a:r>
              <a:rPr sz="1400" b="0">
                <a:solidFill>
                  <a:srgbClr val="333333"/>
                </a:solidFill>
                <a:latin typeface="Roboto"/>
              </a:rPr>
              <a:t>Замер времени и потерь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833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3F2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805172"/>
            <a:ext cx="8229600" cy="6400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83380"/>
            <a:ext cx="8229600" cy="62179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Roboto"/>
              </a:rPr>
              <a:t>Спасибо! 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1663</Words>
  <Application>Microsoft Office PowerPoint</Application>
  <PresentationFormat>Экран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Roboto</vt:lpstr>
      <vt:lpstr>Roboto Medium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«Игрок не должен замечать отказ»</vt:lpstr>
      <vt:lpstr>Два сайта, связь только через Интернет</vt:lpstr>
      <vt:lpstr>Anycast — вход, unicast — сессия</vt:lpstr>
      <vt:lpstr>Внутри сайта: Spine-Leaf и EVPN</vt:lpstr>
      <vt:lpstr>Тест изолирован от игры</vt:lpstr>
      <vt:lpstr>24 проверки: от линка до сайта</vt:lpstr>
      <vt:lpstr>Отказ сайта RU: игроки уходят на EU</vt:lpstr>
      <vt:lpstr>BUM-шторм не вышел за сайт</vt:lpstr>
      <vt:lpstr>Выводы и границы модели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Drew</cp:lastModifiedBy>
  <cp:revision>4</cp:revision>
  <dcterms:modified xsi:type="dcterms:W3CDTF">2026-10-22T10:21:46Z</dcterms:modified>
</cp:coreProperties>
</file>